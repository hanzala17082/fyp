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74" r:id="rId7"/>
    <p:sldId id="275" r:id="rId8"/>
    <p:sldId id="260" r:id="rId9"/>
    <p:sldId id="261" r:id="rId10"/>
    <p:sldId id="270" r:id="rId11"/>
    <p:sldId id="276" r:id="rId12"/>
    <p:sldId id="262" r:id="rId13"/>
    <p:sldId id="264" r:id="rId14"/>
    <p:sldId id="265" r:id="rId15"/>
    <p:sldId id="266" r:id="rId16"/>
    <p:sldId id="267" r:id="rId17"/>
    <p:sldId id="26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B2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43" d="100"/>
          <a:sy n="43" d="100"/>
        </p:scale>
        <p:origin x="72" y="10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B7F0F-9CBC-4D4F-A300-58EDDC23587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9607" y="117207"/>
            <a:ext cx="9144000" cy="1602536"/>
          </a:xfrm>
        </p:spPr>
        <p:txBody>
          <a:bodyPr>
            <a:normAutofit/>
          </a:bodyPr>
          <a:lstStyle/>
          <a:p>
            <a:r>
              <a:rPr dirty="0" err="1">
                <a:solidFill>
                  <a:schemeClr val="bg1"/>
                </a:solidFill>
              </a:rPr>
              <a:t>AskUMT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9449" y="2346036"/>
            <a:ext cx="4858327" cy="220056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Names:</a:t>
            </a:r>
          </a:p>
          <a:p>
            <a:pPr algn="l"/>
            <a:r>
              <a:rPr lang="en-US" dirty="0" err="1">
                <a:solidFill>
                  <a:schemeClr val="bg1"/>
                </a:solidFill>
              </a:rPr>
              <a:t>Hajra</a:t>
            </a:r>
            <a:r>
              <a:rPr lang="en-US" dirty="0">
                <a:solidFill>
                  <a:schemeClr val="bg1"/>
                </a:solidFill>
              </a:rPr>
              <a:t> Khalil                    -F2022065254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Muhammad Hanzala   -F2022065251</a:t>
            </a:r>
          </a:p>
          <a:p>
            <a:pPr algn="l"/>
            <a:r>
              <a:rPr lang="en-US" dirty="0" err="1">
                <a:solidFill>
                  <a:schemeClr val="bg1"/>
                </a:solidFill>
              </a:rPr>
              <a:t>Hassaan</a:t>
            </a:r>
            <a:r>
              <a:rPr lang="en-US" dirty="0">
                <a:solidFill>
                  <a:schemeClr val="bg1"/>
                </a:solidFill>
              </a:rPr>
              <a:t> Anwar             -F2022065248       </a:t>
            </a:r>
          </a:p>
          <a:p>
            <a:pPr algn="l"/>
            <a:r>
              <a:rPr lang="en-US" dirty="0" err="1">
                <a:solidFill>
                  <a:schemeClr val="bg1"/>
                </a:solidFill>
              </a:rPr>
              <a:t>M.Daniyal</a:t>
            </a:r>
            <a:r>
              <a:rPr lang="en-US" dirty="0">
                <a:solidFill>
                  <a:schemeClr val="bg1"/>
                </a:solidFill>
              </a:rPr>
              <a:t>                      -F2022065330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ubtitle 2"/>
          <p:cNvSpPr txBox="1"/>
          <p:nvPr/>
        </p:nvSpPr>
        <p:spPr>
          <a:xfrm>
            <a:off x="6225308" y="5678055"/>
            <a:ext cx="4996872" cy="1179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Advisor:  Ma’am </a:t>
            </a:r>
            <a:r>
              <a:rPr lang="en-US" dirty="0" err="1">
                <a:solidFill>
                  <a:schemeClr val="bg1"/>
                </a:solidFill>
              </a:rPr>
              <a:t>Insha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Rafique</a:t>
            </a:r>
            <a:endParaRPr lang="en-US" dirty="0">
              <a:solidFill>
                <a:schemeClr val="bg1"/>
              </a:solidFill>
            </a:endParaRPr>
          </a:p>
          <a:p>
            <a:pPr algn="l"/>
            <a:r>
              <a:rPr lang="en-US" dirty="0">
                <a:solidFill>
                  <a:schemeClr val="bg1"/>
                </a:solidFill>
              </a:rPr>
              <a:t>Co-Advisor:  N/A                          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63" y="5533374"/>
            <a:ext cx="3466181" cy="12493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docs-Roboto"/>
              </a:rPr>
              <a:t>Overview of topic/domain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Domain: </a:t>
            </a:r>
            <a:r>
              <a:rPr lang="en-US" dirty="0">
                <a:solidFill>
                  <a:schemeClr val="bg1"/>
                </a:solidFill>
              </a:rPr>
              <a:t>Travel &amp; Tourism Web Applications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Focus: </a:t>
            </a:r>
            <a:r>
              <a:rPr lang="en-US" dirty="0">
                <a:solidFill>
                  <a:schemeClr val="bg1"/>
                </a:solidFill>
              </a:rPr>
              <a:t>Connecting Travelers with Travel Agencies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Problem: </a:t>
            </a:r>
            <a:r>
              <a:rPr lang="en-US" dirty="0">
                <a:solidFill>
                  <a:schemeClr val="bg1"/>
                </a:solidFill>
              </a:rPr>
              <a:t>Difficulty in discovering, comparing, and booking trips online. No any other App is available for local </a:t>
            </a:r>
            <a:r>
              <a:rPr lang="en-US" dirty="0" err="1">
                <a:solidFill>
                  <a:schemeClr val="bg1"/>
                </a:solidFill>
              </a:rPr>
              <a:t>travellers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Solution: </a:t>
            </a:r>
            <a:r>
              <a:rPr lang="en-US" dirty="0">
                <a:solidFill>
                  <a:schemeClr val="bg1"/>
                </a:solidFill>
              </a:rPr>
              <a:t>Centralized web-based travel marketplace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docs-Roboto"/>
              </a:rPr>
              <a:t>Project Description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Travel Together is a web-based platform that connects travelers with verified travel agencies.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Users can explore agencies, browse trips, and send booking requests online.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Agencies can manage trips and bookings through a single dashboard.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chemeClr val="bg1"/>
                </a:solidFill>
                <a:effectLst/>
                <a:latin typeface="docs-Roboto"/>
              </a:rPr>
              <a:t>Describe the solution you plan to explore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centralized web application acting as a travel marketplace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Supports travelers, agencies, and admins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Secure, scalable, and user-friendly architecture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Future-ready for payment and group chats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135" y="133927"/>
            <a:ext cx="10793730" cy="132588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docs-Roboto"/>
              </a:rPr>
              <a:t>Website Structure</a:t>
            </a:r>
            <a:endParaRPr lang="en-US" b="0" i="0" dirty="0">
              <a:solidFill>
                <a:schemeClr val="bg1"/>
              </a:solidFill>
              <a:effectLst/>
              <a:latin typeface="docs-Roboto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97" y="1709478"/>
            <a:ext cx="3926840" cy="4351655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docs-Roboto"/>
                <a:cs typeface="Times New Roman" panose="02020603050405020304" pitchFamily="18" charset="0"/>
              </a:rPr>
              <a:t>1.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docs-Roboto"/>
                <a:cs typeface="Times New Roman" panose="02020603050405020304" pitchFamily="18" charset="0"/>
              </a:rPr>
              <a:t>Listing Page</a:t>
            </a:r>
          </a:p>
          <a:p>
            <a:pPr marL="0" indent="0">
              <a:buNone/>
            </a:pPr>
            <a:endParaRPr lang="en-US" altLang="en-US" dirty="0">
              <a:solidFill>
                <a:schemeClr val="bg1">
                  <a:lumMod val="95000"/>
                </a:schemeClr>
              </a:solidFill>
              <a:latin typeface="docs-Roboto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dirty="0">
                <a:solidFill>
                  <a:schemeClr val="lt1"/>
                </a:solidFill>
                <a:latin typeface="docs-Roboto"/>
                <a:cs typeface="Times New Roman" panose="02020603050405020304" pitchFamily="18" charset="0"/>
              </a:rPr>
              <a:t>Displays a searchable and filterable list of travel packages, destinations, and agencies.</a:t>
            </a:r>
          </a:p>
          <a:p>
            <a:pPr marL="0" indent="0">
              <a:buNone/>
            </a:pPr>
            <a:endParaRPr lang="en-US" altLang="en-US" sz="3000" dirty="0">
              <a:solidFill>
                <a:schemeClr val="lt1"/>
              </a:solidFill>
              <a:latin typeface="docs-Roboto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dirty="0">
                <a:solidFill>
                  <a:schemeClr val="lt1"/>
                </a:solidFill>
                <a:latin typeface="docs-Roboto"/>
                <a:cs typeface="Times New Roman" panose="02020603050405020304" pitchFamily="18" charset="0"/>
              </a:rPr>
              <a:t>Users can view details such as price, user ratings, and availability.</a:t>
            </a:r>
          </a:p>
          <a:p>
            <a:pPr marL="0" indent="0">
              <a:buNone/>
            </a:pPr>
            <a:endParaRPr lang="en-US" altLang="en-US" sz="3000" dirty="0">
              <a:solidFill>
                <a:schemeClr val="lt1"/>
              </a:solidFill>
              <a:latin typeface="docs-Roboto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dirty="0">
                <a:solidFill>
                  <a:schemeClr val="lt1"/>
                </a:solidFill>
                <a:latin typeface="docs-Roboto"/>
                <a:cs typeface="Times New Roman" panose="02020603050405020304" pitchFamily="18" charset="0"/>
              </a:rPr>
              <a:t>Allows sorting by popularity, price, date, and user reviews.</a:t>
            </a:r>
            <a:endParaRPr lang="en-US" altLang="en-US" sz="3000" dirty="0">
              <a:solidFill>
                <a:schemeClr val="lt1"/>
              </a:solidFill>
              <a:latin typeface="docs-Roboto"/>
              <a:cs typeface="Times New Roman" panose="02020603050405020304" pitchFamily="18" charset="0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4804334" y="1349882"/>
            <a:ext cx="3626485" cy="4158235"/>
          </a:xfrm>
          <a:prstGeom prst="rect">
            <a:avLst/>
          </a:prstGeom>
          <a:solidFill>
            <a:srgbClr val="8B2444"/>
          </a:solidFill>
          <a:ln>
            <a:solidFill>
              <a:srgbClr val="8B244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en-US" sz="2200" dirty="0">
                <a:solidFill>
                  <a:schemeClr val="bg1">
                    <a:lumMod val="95000"/>
                  </a:schemeClr>
                </a:solidFill>
                <a:latin typeface="docs-Roboto"/>
                <a:cs typeface="Times New Roman" panose="02020603050405020304" pitchFamily="18" charset="0"/>
              </a:rPr>
              <a:t>2.</a:t>
            </a: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docs-Roboto"/>
                <a:cs typeface="Times New Roman" panose="02020603050405020304" pitchFamily="18" charset="0"/>
              </a:rPr>
              <a:t> User Dashboard 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endParaRPr lang="en-US" altLang="en-US" sz="2200" dirty="0">
              <a:solidFill>
                <a:schemeClr val="bg1">
                  <a:lumMod val="95000"/>
                </a:schemeClr>
              </a:solidFill>
              <a:latin typeface="docs-Roboto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docs-Roboto"/>
                <a:cs typeface="Times New Roman" panose="02020603050405020304" pitchFamily="18" charset="0"/>
              </a:rPr>
              <a:t>Personalized home for travelers showing upcoming trips, and booking status.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endParaRPr lang="en-US" sz="2200" dirty="0">
              <a:solidFill>
                <a:schemeClr val="bg1">
                  <a:lumMod val="95000"/>
                </a:schemeClr>
              </a:solidFill>
              <a:latin typeface="docs-Roboto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docs-Roboto"/>
                <a:cs typeface="Times New Roman" panose="02020603050405020304" pitchFamily="18" charset="0"/>
              </a:rPr>
              <a:t>Notifications center for booking confirmations,  alerts.</a:t>
            </a:r>
            <a:endParaRPr lang="en-US" altLang="en-US" sz="2200" dirty="0">
              <a:solidFill>
                <a:schemeClr val="bg1">
                  <a:lumMod val="95000"/>
                </a:schemeClr>
              </a:solidFill>
              <a:latin typeface="docs-Roboto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docs-Roboto"/>
              <a:cs typeface="Times New Roman" panose="02020603050405020304" pitchFamily="18" charset="0"/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8430819" y="2216784"/>
            <a:ext cx="3626484" cy="4158235"/>
          </a:xfrm>
          <a:prstGeom prst="rect">
            <a:avLst/>
          </a:prstGeom>
          <a:solidFill>
            <a:srgbClr val="8B2444"/>
          </a:solidFill>
          <a:ln>
            <a:solidFill>
              <a:srgbClr val="8B244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docs-Roboto"/>
                <a:cs typeface="Times New Roman" panose="02020603050405020304" pitchFamily="18" charset="0"/>
              </a:rPr>
              <a:t>3. Agencies dashboard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endParaRPr lang="en-US" altLang="en-US" sz="2200" dirty="0">
              <a:solidFill>
                <a:schemeClr val="bg1">
                  <a:lumMod val="95000"/>
                </a:schemeClr>
              </a:solidFill>
              <a:latin typeface="docs-Roboto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docs-Roboto"/>
                <a:cs typeface="Times New Roman" panose="02020603050405020304" pitchFamily="18" charset="0"/>
              </a:rPr>
              <a:t>Dedicated interface for travel agencies to manage their profiles and offerings.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endParaRPr lang="en-US" sz="2200" dirty="0">
              <a:solidFill>
                <a:schemeClr val="bg1">
                  <a:lumMod val="95000"/>
                </a:schemeClr>
              </a:solidFill>
              <a:latin typeface="docs-Roboto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docs-Roboto"/>
                <a:cs typeface="Times New Roman" panose="02020603050405020304" pitchFamily="18" charset="0"/>
              </a:rPr>
              <a:t>Add, update, or remove travel packages and special deals.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endParaRPr lang="en-US" sz="2200" dirty="0">
              <a:solidFill>
                <a:schemeClr val="bg1">
                  <a:lumMod val="95000"/>
                </a:schemeClr>
              </a:solidFill>
              <a:latin typeface="docs-Roboto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docs-Roboto"/>
                <a:cs typeface="Times New Roman" panose="02020603050405020304" pitchFamily="18" charset="0"/>
              </a:rPr>
              <a:t>View and respond to customer inquiries and booking requests.</a:t>
            </a: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197" y="383598"/>
            <a:ext cx="10793730" cy="132588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docs-Roboto"/>
              </a:rPr>
              <a:t>Continue</a:t>
            </a:r>
            <a:endParaRPr lang="en-US" b="0" i="0" dirty="0">
              <a:solidFill>
                <a:schemeClr val="bg1"/>
              </a:solidFill>
              <a:effectLst/>
              <a:latin typeface="docs-Roboto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306" y="1969525"/>
            <a:ext cx="3926840" cy="4351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200" dirty="0">
                <a:solidFill>
                  <a:schemeClr val="bg1">
                    <a:lumMod val="95000"/>
                  </a:schemeClr>
                </a:solidFill>
                <a:latin typeface="docs-Roboto"/>
                <a:cs typeface="Times New Roman" panose="02020603050405020304" pitchFamily="18" charset="0"/>
              </a:rPr>
              <a:t>1. </a:t>
            </a: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docs-Roboto"/>
                <a:cs typeface="Times New Roman" panose="02020603050405020304" pitchFamily="18" charset="0"/>
              </a:rPr>
              <a:t>Admin Dashboard</a:t>
            </a:r>
          </a:p>
          <a:p>
            <a:pPr marL="0" indent="0">
              <a:buNone/>
            </a:pPr>
            <a:endParaRPr lang="en-US" altLang="en-US" sz="2200" dirty="0">
              <a:solidFill>
                <a:schemeClr val="bg1">
                  <a:lumMod val="95000"/>
                </a:schemeClr>
              </a:solidFill>
              <a:latin typeface="docs-Roboto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docs-Roboto"/>
                <a:cs typeface="Times New Roman" panose="02020603050405020304" pitchFamily="18" charset="0"/>
              </a:rPr>
              <a:t>Central control panel for system administrators.</a:t>
            </a:r>
          </a:p>
          <a:p>
            <a:pPr marL="0" indent="0">
              <a:buNone/>
            </a:pPr>
            <a:endParaRPr lang="en-US" altLang="en-US" sz="2200" dirty="0">
              <a:solidFill>
                <a:schemeClr val="bg1">
                  <a:lumMod val="95000"/>
                </a:schemeClr>
              </a:solidFill>
              <a:latin typeface="docs-Roboto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docs-Roboto"/>
                <a:cs typeface="Times New Roman" panose="02020603050405020304" pitchFamily="18" charset="0"/>
              </a:rPr>
              <a:t>Monitor user activities, bookings, and site analytics.</a:t>
            </a:r>
          </a:p>
          <a:p>
            <a:pPr marL="0" indent="0">
              <a:buNone/>
            </a:pPr>
            <a:endParaRPr lang="en-US" altLang="en-US" sz="2200" dirty="0">
              <a:solidFill>
                <a:schemeClr val="bg1">
                  <a:lumMod val="95000"/>
                </a:schemeClr>
              </a:solidFill>
              <a:latin typeface="docs-Roboto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docs-Roboto"/>
                <a:cs typeface="Times New Roman" panose="02020603050405020304" pitchFamily="18" charset="0"/>
              </a:rPr>
              <a:t>Manage content such as travel listings, user accounts, and agent registrations.</a:t>
            </a:r>
            <a:endParaRPr lang="en-US" altLang="en-US" sz="2200" dirty="0">
              <a:solidFill>
                <a:schemeClr val="bg1">
                  <a:lumMod val="95000"/>
                </a:schemeClr>
              </a:solidFill>
              <a:latin typeface="docs-Roboto"/>
              <a:cs typeface="Times New Roman" panose="02020603050405020304" pitchFamily="18" charset="0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4759729" y="1822450"/>
            <a:ext cx="3626485" cy="4645806"/>
          </a:xfrm>
          <a:prstGeom prst="rect">
            <a:avLst/>
          </a:prstGeom>
          <a:solidFill>
            <a:srgbClr val="8B2444"/>
          </a:solidFill>
          <a:ln>
            <a:solidFill>
              <a:srgbClr val="8B244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en-US" sz="2800" dirty="0">
              <a:latin typeface="docs-Roboto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docs-Roboto"/>
              <a:cs typeface="Times New Roman" panose="02020603050405020304" pitchFamily="18" charset="0"/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8163872" y="1707114"/>
            <a:ext cx="3626484" cy="4158235"/>
          </a:xfrm>
          <a:prstGeom prst="rect">
            <a:avLst/>
          </a:prstGeom>
          <a:solidFill>
            <a:srgbClr val="8B2444"/>
          </a:solidFill>
          <a:ln>
            <a:solidFill>
              <a:srgbClr val="8B244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40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chemeClr val="bg1"/>
                </a:solidFill>
                <a:effectLst/>
                <a:latin typeface="docs-Roboto"/>
              </a:rPr>
              <a:t>Expected results and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Expected Results:</a:t>
            </a:r>
            <a:endParaRPr lang="en-US" dirty="0">
              <a:solidFill>
                <a:schemeClr val="bg1">
                  <a:lumMod val="95000"/>
                </a:schemeClr>
              </a:solidFill>
              <a:latin typeface="docs-Roboto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85-95% user satisfaction with travel planning and booking accuracy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60-70% reduction in manual effort for itinerary planning and customer support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Cost savings through optimized resource usage and automated booking workflows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Travel agents no longer need to market separately on multiple social media platforms and users can find all offers in one platform.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Product:</a:t>
            </a:r>
            <a:endParaRPr lang="en-US" dirty="0">
              <a:solidFill>
                <a:schemeClr val="bg1">
                  <a:lumMod val="95000"/>
                </a:schemeClr>
              </a:solidFill>
              <a:latin typeface="docs-Roboto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Fully deployable Travel Together web application for seamless trip planning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docs-Roboto"/>
              </a:rPr>
              <a:t>Functional Requirements</a:t>
            </a:r>
            <a:endParaRPr lang="en-US" b="0" i="0" dirty="0">
              <a:solidFill>
                <a:schemeClr val="bg1"/>
              </a:solidFill>
              <a:effectLst/>
              <a:latin typeface="docs-Roboto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Major FRs: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User Registration and Authentication</a:t>
            </a:r>
          </a:p>
          <a:p>
            <a:r>
              <a:rPr lang="en-US" dirty="0">
                <a:solidFill>
                  <a:schemeClr val="bg1"/>
                </a:solidFill>
              </a:rPr>
              <a:t>Travel Destination Search</a:t>
            </a:r>
          </a:p>
          <a:p>
            <a:r>
              <a:rPr lang="en-US" dirty="0">
                <a:solidFill>
                  <a:schemeClr val="bg1"/>
                </a:solidFill>
              </a:rPr>
              <a:t>Trip Group Creation</a:t>
            </a:r>
          </a:p>
          <a:p>
            <a:r>
              <a:rPr lang="en-US" dirty="0">
                <a:solidFill>
                  <a:schemeClr val="bg1"/>
                </a:solidFill>
              </a:rPr>
              <a:t>Real-time Group Chat</a:t>
            </a:r>
          </a:p>
          <a:p>
            <a:r>
              <a:rPr lang="en-US" dirty="0">
                <a:solidFill>
                  <a:schemeClr val="bg1"/>
                </a:solidFill>
              </a:rPr>
              <a:t>Notifications and Reminders</a:t>
            </a:r>
          </a:p>
          <a:p>
            <a:r>
              <a:rPr lang="en-US" dirty="0">
                <a:solidFill>
                  <a:schemeClr val="bg1"/>
                </a:solidFill>
              </a:rPr>
              <a:t>Review and Rating System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docs-Roboto"/>
              </a:rPr>
              <a:t>Non-Functional Requirements</a:t>
            </a:r>
            <a:endParaRPr lang="en-US" b="0" i="0" dirty="0">
              <a:solidFill>
                <a:schemeClr val="bg1"/>
              </a:solidFill>
              <a:effectLst/>
              <a:latin typeface="docs-Roboto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Important NFRs: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95000"/>
                </a:schemeClr>
              </a:solidFill>
              <a:latin typeface="docs-Roboto"/>
            </a:endParaRPr>
          </a:p>
          <a:p>
            <a:r>
              <a:rPr lang="en-US" b="1" dirty="0">
                <a:solidFill>
                  <a:schemeClr val="bg1"/>
                </a:solidFill>
              </a:rPr>
              <a:t>Performance: </a:t>
            </a:r>
            <a:r>
              <a:rPr lang="en-US" dirty="0">
                <a:solidFill>
                  <a:schemeClr val="bg1"/>
                </a:solidFill>
              </a:rPr>
              <a:t>The app should respond to user actions within 3 seconds under normal load.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Scalability: </a:t>
            </a:r>
            <a:r>
              <a:rPr lang="en-US" dirty="0">
                <a:solidFill>
                  <a:schemeClr val="bg1"/>
                </a:solidFill>
              </a:rPr>
              <a:t>The system should be able to scale horizontally to accommodate growing user base and data.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b="1" dirty="0" err="1">
                <a:solidFill>
                  <a:schemeClr val="bg1"/>
                </a:solidFill>
              </a:rPr>
              <a:t>Relaibility</a:t>
            </a:r>
            <a:r>
              <a:rPr lang="en-US" b="1" dirty="0">
                <a:solidFill>
                  <a:schemeClr val="bg1"/>
                </a:solidFill>
              </a:rPr>
              <a:t>: </a:t>
            </a:r>
            <a:r>
              <a:rPr lang="en-US" dirty="0">
                <a:solidFill>
                  <a:schemeClr val="bg1"/>
                </a:solidFill>
              </a:rPr>
              <a:t>Ensure 99.9% uptime for the web application.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Security: </a:t>
            </a:r>
            <a:r>
              <a:rPr lang="en-US" dirty="0">
                <a:solidFill>
                  <a:schemeClr val="bg1"/>
                </a:solidFill>
              </a:rPr>
              <a:t>Protect user data with encryption (both in transit and at rest).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docs-Roboto"/>
              </a:rPr>
              <a:t>Continue</a:t>
            </a:r>
            <a:endParaRPr lang="en-US" b="0" i="0" dirty="0">
              <a:solidFill>
                <a:schemeClr val="bg1"/>
              </a:solidFill>
              <a:effectLst/>
              <a:latin typeface="docs-Roboto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03425"/>
            <a:ext cx="10515600" cy="435133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600" b="1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Usability: </a:t>
            </a:r>
            <a:r>
              <a:rPr lang="en-US" sz="2600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Intuitive and user-friendly interface accessible on desktop and mobile devices.</a:t>
            </a:r>
          </a:p>
          <a:p>
            <a:pPr>
              <a:lnSpc>
                <a:spcPct val="80000"/>
              </a:lnSpc>
            </a:pPr>
            <a:endParaRPr lang="en-US" sz="2600" dirty="0">
              <a:solidFill>
                <a:schemeClr val="bg1">
                  <a:lumMod val="95000"/>
                </a:schemeClr>
              </a:solidFill>
              <a:latin typeface="docs-Roboto"/>
            </a:endParaRPr>
          </a:p>
          <a:p>
            <a:pPr>
              <a:lnSpc>
                <a:spcPct val="80000"/>
              </a:lnSpc>
            </a:pPr>
            <a:r>
              <a:rPr lang="en-US" sz="2600" b="1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Compatibility: </a:t>
            </a:r>
            <a:r>
              <a:rPr lang="en-US" sz="2600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Compatible with major browsers (Chrome, Firefox, Edge, Safari) and responsive across different screen sizes.</a:t>
            </a:r>
          </a:p>
          <a:p>
            <a:pPr>
              <a:lnSpc>
                <a:spcPct val="80000"/>
              </a:lnSpc>
            </a:pPr>
            <a:endParaRPr lang="en-US" sz="2600" dirty="0">
              <a:solidFill>
                <a:schemeClr val="bg1">
                  <a:lumMod val="95000"/>
                </a:schemeClr>
              </a:solidFill>
              <a:latin typeface="docs-Roboto"/>
            </a:endParaRPr>
          </a:p>
          <a:p>
            <a:pPr>
              <a:lnSpc>
                <a:spcPct val="80000"/>
              </a:lnSpc>
            </a:pPr>
            <a:r>
              <a:rPr lang="en-US" sz="2600" b="1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Logging and Monitoring: </a:t>
            </a:r>
            <a:r>
              <a:rPr lang="en-US" sz="2600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Track system usage and errors for troubleshooting and performance tuning.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77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docs-Roboto"/>
              </a:rPr>
              <a:t>Artificial intelligence related functionalities</a:t>
            </a:r>
            <a:endParaRPr lang="en-US" b="0" i="0" dirty="0">
              <a:solidFill>
                <a:schemeClr val="bg1"/>
              </a:solidFill>
              <a:effectLst/>
              <a:latin typeface="docs-Roboto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AI Chatbot for Smart Search &amp; Filtering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95000"/>
                </a:schemeClr>
              </a:solidFill>
              <a:latin typeface="docs-Roboto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NLP for Fake Reviews and Spam Detection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95000"/>
                </a:schemeClr>
              </a:solidFill>
              <a:latin typeface="docs-Roboto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Image Detection &amp; Classification of Fbr documents 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95000"/>
                </a:schemeClr>
              </a:solidFill>
              <a:latin typeface="docs-Roboto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Image Detection for AI generated documents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95000"/>
                </a:schemeClr>
              </a:solidFill>
              <a:latin typeface="docs-Roboto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NLP for restricting contact numbers in Profile description.</a:t>
            </a:r>
          </a:p>
          <a:p>
            <a:endParaRPr lang="en-US" dirty="0">
              <a:solidFill>
                <a:schemeClr val="bg1">
                  <a:lumMod val="95000"/>
                </a:schemeClr>
              </a:solidFill>
              <a:latin typeface="docs-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docs-Roboto"/>
              </a:rPr>
              <a:t>Research related Projects  Features/ Requirements/ Objectives (Tentative)  (Optional )</a:t>
            </a:r>
            <a:endParaRPr lang="en-US" b="0" i="0" dirty="0">
              <a:solidFill>
                <a:schemeClr val="bg1"/>
              </a:solidFill>
              <a:effectLst/>
              <a:latin typeface="docs-Roboto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bg1">
                  <a:lumMod val="95000"/>
                </a:schemeClr>
              </a:solidFill>
              <a:latin typeface="docs-Roboto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N/A - This is an applied development project, focused on implementation/deployment rather than novel research investigation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docs-Roboto"/>
              </a:rPr>
              <a:t>Target Users/Beneficiaries of the Proposed System</a:t>
            </a:r>
            <a:endParaRPr lang="en-US" b="0" i="0" dirty="0">
              <a:solidFill>
                <a:schemeClr val="bg1"/>
              </a:solidFill>
              <a:effectLst/>
              <a:latin typeface="docs-Roboto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3400" dirty="0">
                <a:solidFill>
                  <a:schemeClr val="bg1"/>
                </a:solidFill>
              </a:rPr>
              <a:t>Users:</a:t>
            </a:r>
            <a:endParaRPr lang="en-US" sz="3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sz="3400" dirty="0">
              <a:solidFill>
                <a:schemeClr val="bg1"/>
              </a:solidFill>
            </a:endParaRPr>
          </a:p>
          <a:p>
            <a:r>
              <a:rPr lang="en-US" sz="3400" dirty="0">
                <a:solidFill>
                  <a:schemeClr val="bg1"/>
                </a:solidFill>
              </a:rPr>
              <a:t>Travelers and Tourists: Easily plan, book, and manage group trips with friends or family</a:t>
            </a:r>
          </a:p>
          <a:p>
            <a:pPr marL="0" indent="0">
              <a:buNone/>
            </a:pPr>
            <a:endParaRPr lang="en-US" sz="3400" dirty="0">
              <a:solidFill>
                <a:schemeClr val="bg1"/>
              </a:solidFill>
            </a:endParaRPr>
          </a:p>
          <a:p>
            <a:r>
              <a:rPr lang="en-US" sz="3400" dirty="0">
                <a:solidFill>
                  <a:schemeClr val="bg1"/>
                </a:solidFill>
              </a:rPr>
              <a:t>Travel Agents: Showcase packages, manage bookings, and connect with clients on one platform</a:t>
            </a:r>
          </a:p>
          <a:p>
            <a:pPr marL="0" indent="0">
              <a:buNone/>
            </a:pPr>
            <a:endParaRPr lang="en-US" sz="3400" dirty="0">
              <a:solidFill>
                <a:schemeClr val="bg1"/>
              </a:solidFill>
            </a:endParaRPr>
          </a:p>
          <a:p>
            <a:r>
              <a:rPr lang="en-US" sz="3400" dirty="0">
                <a:solidFill>
                  <a:schemeClr val="bg1"/>
                </a:solidFill>
              </a:rPr>
              <a:t>Casual Users: Simplify itinerary sharing, real-time communication, and trip collaboration</a:t>
            </a:r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docs-Roboto"/>
              </a:rPr>
              <a:t>Technologies (Tentative Listing)</a:t>
            </a:r>
            <a:endParaRPr lang="en-US" b="0" i="0" dirty="0">
              <a:solidFill>
                <a:schemeClr val="bg1"/>
              </a:solidFill>
              <a:effectLst/>
              <a:latin typeface="docs-Roboto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70000"/>
              </a:lnSpc>
            </a:pPr>
            <a:r>
              <a:rPr lang="en-US" sz="3100" b="1" dirty="0">
                <a:solidFill>
                  <a:schemeClr val="bg1"/>
                </a:solidFill>
              </a:rPr>
              <a:t>Frontend: </a:t>
            </a:r>
            <a:r>
              <a:rPr lang="en-US" sz="3100" dirty="0" err="1">
                <a:solidFill>
                  <a:schemeClr val="bg1"/>
                </a:solidFill>
              </a:rPr>
              <a:t>Nextjs</a:t>
            </a:r>
            <a:r>
              <a:rPr lang="en-US" sz="3100" dirty="0">
                <a:solidFill>
                  <a:schemeClr val="bg1"/>
                </a:solidFill>
              </a:rPr>
              <a:t>, Tailwind, TypeScript</a:t>
            </a:r>
          </a:p>
          <a:p>
            <a:pPr marL="0" indent="0">
              <a:lnSpc>
                <a:spcPct val="70000"/>
              </a:lnSpc>
              <a:buNone/>
            </a:pPr>
            <a:endParaRPr lang="en-US" sz="3100" dirty="0">
              <a:solidFill>
                <a:schemeClr val="bg1"/>
              </a:solidFill>
            </a:endParaRPr>
          </a:p>
          <a:p>
            <a:pPr>
              <a:lnSpc>
                <a:spcPct val="70000"/>
              </a:lnSpc>
            </a:pPr>
            <a:r>
              <a:rPr lang="en-US" sz="3100" b="1" dirty="0">
                <a:solidFill>
                  <a:schemeClr val="bg1"/>
                </a:solidFill>
              </a:rPr>
              <a:t>Backend: </a:t>
            </a:r>
            <a:r>
              <a:rPr lang="en-US" sz="3100" dirty="0">
                <a:solidFill>
                  <a:schemeClr val="bg1"/>
                </a:solidFill>
              </a:rPr>
              <a:t>Django, ORMS </a:t>
            </a:r>
          </a:p>
          <a:p>
            <a:pPr marL="0" indent="0">
              <a:lnSpc>
                <a:spcPct val="70000"/>
              </a:lnSpc>
              <a:buNone/>
            </a:pPr>
            <a:endParaRPr lang="en-US" sz="3100" dirty="0">
              <a:solidFill>
                <a:schemeClr val="bg1"/>
              </a:solidFill>
            </a:endParaRPr>
          </a:p>
          <a:p>
            <a:pPr>
              <a:lnSpc>
                <a:spcPct val="70000"/>
              </a:lnSpc>
            </a:pPr>
            <a:r>
              <a:rPr lang="en-US" sz="3100" b="1" dirty="0">
                <a:solidFill>
                  <a:schemeClr val="bg1"/>
                </a:solidFill>
              </a:rPr>
              <a:t>Database: </a:t>
            </a:r>
            <a:r>
              <a:rPr lang="en-US" sz="3100" dirty="0">
                <a:solidFill>
                  <a:schemeClr val="bg1"/>
                </a:solidFill>
              </a:rPr>
              <a:t>PostgreSQL</a:t>
            </a:r>
          </a:p>
          <a:p>
            <a:pPr marL="0" indent="0">
              <a:lnSpc>
                <a:spcPct val="70000"/>
              </a:lnSpc>
              <a:buNone/>
            </a:pPr>
            <a:endParaRPr lang="en-US" sz="3100" dirty="0">
              <a:solidFill>
                <a:schemeClr val="bg1"/>
              </a:solidFill>
            </a:endParaRPr>
          </a:p>
          <a:p>
            <a:pPr>
              <a:lnSpc>
                <a:spcPct val="70000"/>
              </a:lnSpc>
            </a:pPr>
            <a:r>
              <a:rPr lang="en-US" sz="3100" b="1" dirty="0">
                <a:solidFill>
                  <a:schemeClr val="bg1"/>
                </a:solidFill>
              </a:rPr>
              <a:t>Deployment: </a:t>
            </a:r>
            <a:r>
              <a:rPr lang="en-US" sz="3100" dirty="0">
                <a:solidFill>
                  <a:schemeClr val="bg1"/>
                </a:solidFill>
              </a:rPr>
              <a:t>AWS EC2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docs-Roboto"/>
              </a:rPr>
              <a:t>Cloud Platform</a:t>
            </a:r>
            <a:endParaRPr lang="en-US" b="0" i="0" dirty="0">
              <a:solidFill>
                <a:schemeClr val="bg1"/>
              </a:solidFill>
              <a:effectLst/>
              <a:latin typeface="docs-Roboto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Primary: Amazon Web Services (AWS)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 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EC2 (hosting), S3 (storage), RDS (PostgreSQL)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95000"/>
                </a:schemeClr>
              </a:solidFill>
              <a:latin typeface="docs-Roboto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docs-Roboto"/>
              </a:rPr>
              <a:t>Rationale: Matches existing code integrations; scalable &amp; cost-effective for voice traffic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docs-Roboto"/>
              </a:rPr>
              <a:t>C</a:t>
            </a:r>
            <a:r>
              <a:rPr lang="en-US" b="0" i="0" dirty="0">
                <a:solidFill>
                  <a:schemeClr val="bg1"/>
                </a:solidFill>
                <a:effectLst/>
                <a:latin typeface="docs-Roboto"/>
              </a:rPr>
              <a:t>ompetitors/ Related Products or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Competitors: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Viator: </a:t>
            </a:r>
            <a:r>
              <a:rPr lang="en-US" dirty="0">
                <a:solidFill>
                  <a:schemeClr val="bg1"/>
                </a:solidFill>
              </a:rPr>
              <a:t>Marketplace for tours and travel experiences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b="1" dirty="0" err="1">
                <a:solidFill>
                  <a:schemeClr val="bg1"/>
                </a:solidFill>
              </a:rPr>
              <a:t>GetYourGuide</a:t>
            </a:r>
            <a:r>
              <a:rPr lang="en-US" b="1" dirty="0">
                <a:solidFill>
                  <a:schemeClr val="bg1"/>
                </a:solidFill>
              </a:rPr>
              <a:t>: </a:t>
            </a:r>
            <a:r>
              <a:rPr lang="en-US" dirty="0">
                <a:solidFill>
                  <a:schemeClr val="bg1"/>
                </a:solidFill>
              </a:rPr>
              <a:t>Booking platform focused on guided tours and activities</a:t>
            </a:r>
          </a:p>
          <a:p>
            <a:pPr marL="0" indent="0">
              <a:buNone/>
            </a:pP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734</Words>
  <Application>Microsoft Office PowerPoint</Application>
  <PresentationFormat>Widescreen</PresentationFormat>
  <Paragraphs>136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docs-Roboto</vt:lpstr>
      <vt:lpstr>Times New Roman</vt:lpstr>
      <vt:lpstr>Office Theme</vt:lpstr>
      <vt:lpstr>1_Office Theme</vt:lpstr>
      <vt:lpstr>AskUMT</vt:lpstr>
      <vt:lpstr>Overview of topic/domain</vt:lpstr>
      <vt:lpstr>Project Description</vt:lpstr>
      <vt:lpstr>Describe the solution you plan to explore</vt:lpstr>
      <vt:lpstr>Website Structure</vt:lpstr>
      <vt:lpstr>Continue</vt:lpstr>
      <vt:lpstr>Expected results and product</vt:lpstr>
      <vt:lpstr>Functional Requirements</vt:lpstr>
      <vt:lpstr>Non-Functional Requirements</vt:lpstr>
      <vt:lpstr>Continue</vt:lpstr>
      <vt:lpstr>Artificial intelligence related functionalities</vt:lpstr>
      <vt:lpstr>Research related Projects  Features/ Requirements/ Objectives (Tentative)  (Optional )</vt:lpstr>
      <vt:lpstr>Target Users/Beneficiaries of the Proposed System</vt:lpstr>
      <vt:lpstr>Technologies (Tentative Listing)</vt:lpstr>
      <vt:lpstr>Cloud Platform</vt:lpstr>
      <vt:lpstr>Competitors/ Related Products or Projects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</dc:title>
  <dc:creator>Muhammad Asif Subhani</dc:creator>
  <cp:lastModifiedBy>HAJRA KHALIL</cp:lastModifiedBy>
  <cp:revision>42</cp:revision>
  <dcterms:created xsi:type="dcterms:W3CDTF">2024-12-14T12:16:00Z</dcterms:created>
  <dcterms:modified xsi:type="dcterms:W3CDTF">2026-01-21T13:57:34Z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84D0E33D38DE40C2BD6926DFCED5367D_13</vt:lpwstr>
  </property>
  <property fmtid="{D5CDD505-2E9C-101B-9397-08002B2CF9AE}" pid="3" name="KSOProductBuildVer">
    <vt:lpwstr>1033-12.2.0.23155</vt:lpwstr>
  </property>
</Properties>
</file>